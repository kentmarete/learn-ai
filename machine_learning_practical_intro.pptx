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731520"/>
            <a:ext cx="2011680" cy="2011680"/>
          </a:xfrm>
          <a:prstGeom prst="ellipse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2011680"/>
            <a:ext cx="1143000" cy="1143000"/>
          </a:xfrm>
          <a:prstGeom prst="ellipse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834640"/>
            <a:ext cx="914400" cy="914400"/>
          </a:xfrm>
          <a:prstGeom prst="ellipse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886200"/>
            <a:ext cx="1828800" cy="1828800"/>
          </a:xfrm>
          <a:prstGeom prst="ellipse">
            <a:avLst/>
          </a:prstGeom>
          <a:solidFill>
            <a:srgbClr val="233E60"/>
          </a:solidFill>
          <a:ln>
            <a:solidFill>
              <a:srgbClr val="23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804672"/>
            <a:ext cx="1600200" cy="347472"/>
          </a:xfrm>
          <a:prstGeom prst="round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822960"/>
            <a:ext cx="149047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F1D34"/>
                </a:solidFill>
                <a:latin typeface="Aptos"/>
              </a:defRPr>
            </a:pPr>
            <a:r>
              <a:t>A PRACTICAL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80467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MACHINE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03320"/>
            <a:ext cx="7132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CDDAEB"/>
                </a:solidFill>
                <a:latin typeface="Aptos"/>
              </a:defRPr>
            </a:pPr>
            <a:r>
              <a:t>From data and prediction to deep learning and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897880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0B4CD"/>
                </a:solidFill>
                <a:latin typeface="Aptos"/>
              </a:defRPr>
            </a:pPr>
            <a:r>
              <a:t>Concepts • Python examples • Banking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AB9CD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AB9C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AI, machine learning and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Three related fields, each with a different scope.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4343400"/>
          </a:xfrm>
          <a:prstGeom prst="roundRect">
            <a:avLst/>
          </a:prstGeom>
          <a:solidFill>
            <a:srgbClr val="E2EDFB"/>
          </a:solidFill>
          <a:ln w="25400"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1051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F1D34"/>
                </a:solidFill>
                <a:latin typeface="Aptos"/>
              </a:defRPr>
            </a:pPr>
            <a: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12848"/>
            <a:ext cx="9052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Systems that perform tasks associated with human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788920"/>
            <a:ext cx="9052560" cy="2788920"/>
          </a:xfrm>
          <a:prstGeom prst="roundRect">
            <a:avLst/>
          </a:prstGeom>
          <a:solidFill>
            <a:srgbClr val="E0F4F0"/>
          </a:solidFill>
          <a:ln w="25400"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999232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D34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383280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Algorithms learn patterns from data and use them to make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4069080"/>
            <a:ext cx="7680960" cy="1143000"/>
          </a:xfrm>
          <a:prstGeom prst="roundRect">
            <a:avLst/>
          </a:prstGeom>
          <a:solidFill>
            <a:srgbClr val="FCF4E1"/>
          </a:solidFill>
          <a:ln w="25400"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224528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F1D34"/>
                </a:solidFill>
                <a:latin typeface="Aptos"/>
              </a:defRPr>
            </a:pPr>
            <a:r>
              <a:t>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61772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Multi-layer neural networks learn complex representations.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How machine learning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A model learns from examples, then predicts outcomes for new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1874519" cy="205740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395728"/>
            <a:ext cx="64008" cy="1837943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450592"/>
            <a:ext cx="1508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Collect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907792"/>
            <a:ext cx="1508760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Historical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901952"/>
            <a:ext cx="475488" cy="347472"/>
          </a:xfrm>
          <a:prstGeom prst="round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365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3310128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286000"/>
            <a:ext cx="1874519" cy="205740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2395728"/>
            <a:ext cx="64008" cy="1837943"/>
          </a:xfrm>
          <a:prstGeom prst="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450592"/>
            <a:ext cx="1508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Prepare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907792"/>
            <a:ext cx="1508760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Select useful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0088" y="1901952"/>
            <a:ext cx="475488" cy="347472"/>
          </a:xfrm>
          <a:prstGeom prst="round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920240"/>
            <a:ext cx="365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310128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2286000"/>
            <a:ext cx="1874519" cy="205740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2395728"/>
            <a:ext cx="64008" cy="1837943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2450592"/>
            <a:ext cx="1508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Train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907792"/>
            <a:ext cx="1508760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Learn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6088" y="1901952"/>
            <a:ext cx="475488" cy="347472"/>
          </a:xfrm>
          <a:prstGeom prst="round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1920240"/>
            <a:ext cx="365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0" y="3310128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2286000"/>
            <a:ext cx="1874519" cy="205740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2395728"/>
            <a:ext cx="64008" cy="1837943"/>
          </a:xfrm>
          <a:prstGeom prst="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2450592"/>
            <a:ext cx="1508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2907792"/>
            <a:ext cx="1508760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Test unseen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62088" y="1901952"/>
            <a:ext cx="475488" cy="347472"/>
          </a:xfrm>
          <a:prstGeom prst="round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1920240"/>
            <a:ext cx="365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2600" y="3310128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38360" y="2286000"/>
            <a:ext cx="1874519" cy="205740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8360" y="2395728"/>
            <a:ext cx="64008" cy="1837943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9528" y="2450592"/>
            <a:ext cx="1508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2907792"/>
            <a:ext cx="1508760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Estimate an outcome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48088" y="1901952"/>
            <a:ext cx="475488" cy="347472"/>
          </a:xfrm>
          <a:prstGeom prst="round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2952" y="1920240"/>
            <a:ext cx="365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106070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Key terms: dataset = examples  •  features = inputs  •  labels = expected answers  •  model = learned mathematical 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Four main machine learning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Choose the approach based on the data and the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49240" cy="1828800"/>
          </a:xfrm>
          <a:prstGeom prst="roundRect">
            <a:avLst/>
          </a:prstGeom>
          <a:solidFill>
            <a:srgbClr val="E2EDFB"/>
          </a:solidFill>
          <a:ln>
            <a:solidFill>
              <a:srgbClr val="E2E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64008" cy="160934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D34"/>
                </a:solidFill>
                <a:latin typeface="Aptos"/>
              </a:defRPr>
            </a:pPr>
            <a:r>
              <a:t>1. 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67712"/>
            <a:ext cx="498347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Learns from labelled examples.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Example: predict loan default from past repayment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49240" cy="1828800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55648"/>
            <a:ext cx="64008" cy="160934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10512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D34"/>
                </a:solidFill>
                <a:latin typeface="Aptos"/>
              </a:defRPr>
            </a:pPr>
            <a:r>
              <a:t>2. Unsupervised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67712"/>
            <a:ext cx="498347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Finds structure in unlabelled data.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Example: group customers by transaction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5349240" cy="1828800"/>
          </a:xfrm>
          <a:prstGeom prst="roundRect">
            <a:avLst/>
          </a:prstGeom>
          <a:solidFill>
            <a:srgbClr val="FCF4E1"/>
          </a:solidFill>
          <a:ln>
            <a:solidFill>
              <a:srgbClr val="FCF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04488"/>
            <a:ext cx="64008" cy="1609344"/>
          </a:xfrm>
          <a:prstGeom prst="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959352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D34"/>
                </a:solidFill>
                <a:latin typeface="Aptos"/>
              </a:defRPr>
            </a:pPr>
            <a:r>
              <a:t>3. Reinforcement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416552"/>
            <a:ext cx="498347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Learns through actions, rewards and penalties.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Example: an agent learns in a simulated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349240" cy="182880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04488"/>
            <a:ext cx="64008" cy="1609344"/>
          </a:xfrm>
          <a:prstGeom prst="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59352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D34"/>
                </a:solidFill>
                <a:latin typeface="Aptos"/>
              </a:defRPr>
            </a:pPr>
            <a:r>
              <a:t>4. Semi-supervised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416552"/>
            <a:ext cx="498347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Combines a small labelled dataset with more unlabelled data.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Example: classify suspicious transactions with limited labels.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Example: predict loan repayment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Supervised learning uses historical outcomes as labels.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6400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28800"/>
                <a:gridCol w="1645920"/>
                <a:gridCol w="1600200"/>
              </a:tblGrid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91440" marR="54864">
                    <a:solidFill>
                      <a:srgbClr val="0F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 salary</a:t>
                      </a:r>
                    </a:p>
                  </a:txBody>
                  <a:tcPr marL="91440" marR="54864">
                    <a:solidFill>
                      <a:srgbClr val="0F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Existing debt</a:t>
                      </a:r>
                    </a:p>
                  </a:txBody>
                  <a:tcPr marL="91440" marR="54864">
                    <a:solidFill>
                      <a:srgbClr val="0F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Repaid?</a:t>
                      </a:r>
                    </a:p>
                  </a:txBody>
                  <a:tcPr marL="91440" marR="54864">
                    <a:solidFill>
                      <a:srgbClr val="0F1D3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100,000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10,000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40,000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35,000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150,000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20,000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30,000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28,000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91440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90,000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15,000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91440" marR="54864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52360" y="1783080"/>
            <a:ext cx="4069080" cy="1234440"/>
          </a:xfrm>
          <a:prstGeom prst="roundRect">
            <a:avLst/>
          </a:prstGeom>
          <a:solidFill>
            <a:srgbClr val="E2EDFB"/>
          </a:solidFill>
          <a:ln>
            <a:solidFill>
              <a:srgbClr val="E2E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1892807"/>
            <a:ext cx="64008" cy="101498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53528" y="1947672"/>
            <a:ext cx="3703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Features 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8" y="2404872"/>
            <a:ext cx="37033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Salary and existing debt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246120"/>
            <a:ext cx="4069080" cy="1234440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3355848"/>
            <a:ext cx="64008" cy="101498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3410712"/>
            <a:ext cx="3703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Label (y)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3867911"/>
            <a:ext cx="37033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Repaid: 1 = yes, 0 =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00600"/>
            <a:ext cx="3931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The model learns relationships between customer information and repayment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Common algorithms and when to use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Start with the problem type, then select an appropriate algorithm.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64008" cy="147218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67712"/>
            <a:ext cx="31546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Predict a number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Sales, demand, loan amount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755648"/>
            <a:ext cx="64008" cy="147218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81051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267712"/>
            <a:ext cx="31546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Classify an outcome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Default, churn, fraud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755648"/>
            <a:ext cx="64008" cy="1472184"/>
          </a:xfrm>
          <a:prstGeom prst="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81051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267712"/>
            <a:ext cx="31546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Learn decision rules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Risk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13048"/>
            <a:ext cx="64008" cy="1472184"/>
          </a:xfrm>
          <a:prstGeom prst="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325112"/>
            <a:ext cx="31546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Combine many trees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Credit risk, fraud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033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813048"/>
            <a:ext cx="64008" cy="147218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867911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325112"/>
            <a:ext cx="31546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Discover groups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Customer segmentation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7033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3813048"/>
            <a:ext cx="64008" cy="147218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3867911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325112"/>
            <a:ext cx="31546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High-performing trees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Tabular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Python: train a first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t>Scikit-learn makes the basic training workflow concise.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6903720" cy="4434840"/>
          </a:xfrm>
          <a:prstGeom prst="roundRect">
            <a:avLst/>
          </a:prstGeom>
          <a:solidFill>
            <a:srgbClr val="172B48"/>
          </a:solidFill>
          <a:ln>
            <a:solidFill>
              <a:srgbClr val="39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6446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from sklearn.linear_model import LogisticRegression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X = pd.DataFrame({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    "salary": [100000, 40000, 150000, 30000, 90000],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    "debt":   [10000, 35000, 20000, 28000, 15000]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y = [1, 0, 1, 0, 1]  # 1 = repaid, 0 = not repaid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model = LogisticRegression()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model.fit(X, y)     # training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new_customer = pd.DataFrame({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    "salary": [100000], "debt": [20000]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300"/>
              </a:spcAft>
              <a:defRPr sz="1200">
                <a:solidFill>
                  <a:srgbClr val="DCE8F6"/>
                </a:solidFill>
                <a:latin typeface="Consolas"/>
              </a:defRPr>
            </a:pPr>
            <a:r>
              <a:t>print(model.predict_proba(new_customer))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828800"/>
            <a:ext cx="3520440" cy="1325880"/>
          </a:xfrm>
          <a:prstGeom prst="roundRect">
            <a:avLst/>
          </a:prstGeom>
          <a:solidFill>
            <a:srgbClr val="223A58"/>
          </a:solidFill>
          <a:ln>
            <a:solidFill>
              <a:srgbClr val="22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938528"/>
            <a:ext cx="64008" cy="1106424"/>
          </a:xfrm>
          <a:prstGeom prst="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99339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1. 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450592"/>
            <a:ext cx="315468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X = input features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 y = known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429000"/>
            <a:ext cx="3520440" cy="1325880"/>
          </a:xfrm>
          <a:prstGeom prst="roundRect">
            <a:avLst/>
          </a:prstGeom>
          <a:solidFill>
            <a:srgbClr val="223A58"/>
          </a:solidFill>
          <a:ln>
            <a:solidFill>
              <a:srgbClr val="22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3538728"/>
            <a:ext cx="64008" cy="110642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359359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2.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50791"/>
            <a:ext cx="315468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model.fit(X, y)</a:t>
            </a:r>
          </a:p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The algorithm learns weights.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029200"/>
            <a:ext cx="3520440" cy="777240"/>
          </a:xfrm>
          <a:prstGeom prst="roundRect">
            <a:avLst/>
          </a:prstGeom>
          <a:solidFill>
            <a:srgbClr val="223A58"/>
          </a:solidFill>
          <a:ln>
            <a:solidFill>
              <a:srgbClr val="22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5138928"/>
            <a:ext cx="64008" cy="557784"/>
          </a:xfrm>
          <a:prstGeom prst="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519379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3.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5650992"/>
            <a:ext cx="3154680" cy="27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Use new customer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AB9CD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AB9C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Training is not the same as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Test the model on examples it has never seen.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Example: 1,000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8138160" cy="502920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2057400"/>
            <a:ext cx="2057400" cy="502920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3840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070C7"/>
                </a:solidFill>
                <a:latin typeface="Aptos"/>
              </a:defRPr>
            </a:pPr>
            <a:r>
              <a:t>Training: 800 records (80%)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97480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400" b="1">
                <a:solidFill>
                  <a:srgbClr val="199182"/>
                </a:solidFill>
                <a:latin typeface="Aptos"/>
              </a:defRPr>
            </a:pPr>
            <a:r>
              <a:t>Testing: 200 (20%)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3429000" cy="150876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64008" cy="128930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59359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050791"/>
            <a:ext cx="306324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Overall share of correct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538728"/>
            <a:ext cx="64008" cy="128930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59359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Precision and 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050791"/>
            <a:ext cx="306324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Quality of positive predictions and ability to find positives.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429000"/>
            <a:ext cx="3429000" cy="1508760"/>
          </a:xfrm>
          <a:prstGeom prst="round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538728"/>
            <a:ext cx="64008" cy="1289304"/>
          </a:xfrm>
          <a:prstGeom prst="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359359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D34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4050791"/>
            <a:ext cx="306324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Counts correct and incorrect predictions by class.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24B4B"/>
                </a:solidFill>
                <a:latin typeface="Aptos"/>
              </a:defRPr>
            </a:pPr>
            <a:r>
              <a:t>Watch for overfitting: strong training results but weak performance on unseen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Deep learning: neural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Multiple layers learn increasingly complex patterns.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45336" y="2048256"/>
            <a:ext cx="2240279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45336" y="2048256"/>
            <a:ext cx="2240279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45336" y="2048256"/>
            <a:ext cx="2240279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45336" y="2048256"/>
            <a:ext cx="2240279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45336" y="2048256"/>
            <a:ext cx="2240279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545336" y="2048256"/>
            <a:ext cx="2240279" cy="9448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545336" y="2756916"/>
            <a:ext cx="2240279" cy="2362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45336" y="2993136"/>
            <a:ext cx="2240279" cy="4724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45336" y="2993136"/>
            <a:ext cx="2240279" cy="118110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45336" y="2993136"/>
            <a:ext cx="2240279" cy="18897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45336" y="2048256"/>
            <a:ext cx="2240279" cy="18897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45336" y="2756916"/>
            <a:ext cx="2240279" cy="118110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45336" y="3465576"/>
            <a:ext cx="2240279" cy="4724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45336" y="3938016"/>
            <a:ext cx="2240279" cy="2362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45336" y="3938016"/>
            <a:ext cx="2240279" cy="9448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45336" y="2048256"/>
            <a:ext cx="2240279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5336" y="2756916"/>
            <a:ext cx="2240279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45336" y="3465576"/>
            <a:ext cx="2240279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45336" y="4174236"/>
            <a:ext cx="2240279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45336" y="4882896"/>
            <a:ext cx="2240279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85615" y="2048256"/>
            <a:ext cx="2286001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85615" y="204825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85615" y="2048256"/>
            <a:ext cx="2286001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85615" y="2048256"/>
            <a:ext cx="2286001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85615" y="2048256"/>
            <a:ext cx="2286001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785615" y="204825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85615" y="2756916"/>
            <a:ext cx="2286001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85615" y="275691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785615" y="2756916"/>
            <a:ext cx="2286001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85615" y="2756916"/>
            <a:ext cx="2286001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785615" y="2048256"/>
            <a:ext cx="2286001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85615" y="275691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85615" y="3465576"/>
            <a:ext cx="2286001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85615" y="346557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5615" y="3465576"/>
            <a:ext cx="2286001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785615" y="2048256"/>
            <a:ext cx="2286001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785615" y="2756916"/>
            <a:ext cx="2286001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85615" y="346557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785615" y="4174236"/>
            <a:ext cx="2286001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85615" y="417423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785615" y="2048256"/>
            <a:ext cx="2286001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785615" y="2756916"/>
            <a:ext cx="2286001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785615" y="3465576"/>
            <a:ext cx="2286001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785615" y="4174236"/>
            <a:ext cx="2286001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85615" y="4882896"/>
            <a:ext cx="2286001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71616" y="2048256"/>
            <a:ext cx="2286000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71616" y="2048256"/>
            <a:ext cx="2286000" cy="9448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71616" y="2048256"/>
            <a:ext cx="2286000" cy="18897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071616" y="2048256"/>
            <a:ext cx="2286000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071616" y="2048256"/>
            <a:ext cx="2286000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71616" y="2756916"/>
            <a:ext cx="2286000" cy="2362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071616" y="2756916"/>
            <a:ext cx="2286000" cy="118110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71616" y="2756916"/>
            <a:ext cx="2286000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071616" y="2048256"/>
            <a:ext cx="2286000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071616" y="2993136"/>
            <a:ext cx="2286000" cy="4724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71616" y="3465576"/>
            <a:ext cx="2286000" cy="4724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071616" y="3465576"/>
            <a:ext cx="2286000" cy="14173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71616" y="2048256"/>
            <a:ext cx="2286000" cy="21259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71616" y="2993136"/>
            <a:ext cx="2286000" cy="118110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71616" y="3938016"/>
            <a:ext cx="2286000" cy="23622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71616" y="4174236"/>
            <a:ext cx="2286000" cy="7086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071616" y="2048256"/>
            <a:ext cx="2286000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1616" y="2993136"/>
            <a:ext cx="2286000" cy="18897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071616" y="3938016"/>
            <a:ext cx="2286000" cy="9448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071616" y="4882896"/>
            <a:ext cx="2286000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57616" y="2048256"/>
            <a:ext cx="2011680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57616" y="2048256"/>
            <a:ext cx="2011680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357616" y="2048256"/>
            <a:ext cx="2011680" cy="9448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57616" y="2993136"/>
            <a:ext cx="2011680" cy="18897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357616" y="2048256"/>
            <a:ext cx="2011680" cy="188976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57616" y="3938016"/>
            <a:ext cx="2011680" cy="94488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357616" y="2048256"/>
            <a:ext cx="2011680" cy="283464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357616" y="4882896"/>
            <a:ext cx="2011680" cy="0"/>
          </a:xfrm>
          <a:prstGeom prst="line">
            <a:avLst/>
          </a:prstGeom>
          <a:ln w="8890">
            <a:solidFill>
              <a:srgbClr val="BEC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1417320" y="1920240"/>
            <a:ext cx="256032" cy="256032"/>
          </a:xfrm>
          <a:prstGeom prst="ellipse">
            <a:avLst/>
          </a:prstGeom>
          <a:solidFill>
            <a:srgbClr val="3070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17320" y="2865120"/>
            <a:ext cx="256032" cy="256032"/>
          </a:xfrm>
          <a:prstGeom prst="ellipse">
            <a:avLst/>
          </a:prstGeom>
          <a:solidFill>
            <a:srgbClr val="3070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417320" y="3810000"/>
            <a:ext cx="256032" cy="256032"/>
          </a:xfrm>
          <a:prstGeom prst="ellipse">
            <a:avLst/>
          </a:prstGeom>
          <a:solidFill>
            <a:srgbClr val="3070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417320" y="4754880"/>
            <a:ext cx="256032" cy="256032"/>
          </a:xfrm>
          <a:prstGeom prst="ellipse">
            <a:avLst/>
          </a:prstGeom>
          <a:solidFill>
            <a:srgbClr val="3070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57600" y="1920240"/>
            <a:ext cx="256032" cy="256032"/>
          </a:xfrm>
          <a:prstGeom prst="ellipse">
            <a:avLst/>
          </a:prstGeom>
          <a:solidFill>
            <a:srgbClr val="2AB7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57600" y="2628900"/>
            <a:ext cx="256032" cy="256032"/>
          </a:xfrm>
          <a:prstGeom prst="ellipse">
            <a:avLst/>
          </a:prstGeom>
          <a:solidFill>
            <a:srgbClr val="2AB7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57600" y="3337560"/>
            <a:ext cx="256032" cy="256032"/>
          </a:xfrm>
          <a:prstGeom prst="ellipse">
            <a:avLst/>
          </a:prstGeom>
          <a:solidFill>
            <a:srgbClr val="2AB7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657600" y="4046220"/>
            <a:ext cx="256032" cy="256032"/>
          </a:xfrm>
          <a:prstGeom prst="ellipse">
            <a:avLst/>
          </a:prstGeom>
          <a:solidFill>
            <a:srgbClr val="2AB7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657600" y="4754880"/>
            <a:ext cx="256032" cy="256032"/>
          </a:xfrm>
          <a:prstGeom prst="ellipse">
            <a:avLst/>
          </a:prstGeom>
          <a:solidFill>
            <a:srgbClr val="2AB7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943600" y="1920240"/>
            <a:ext cx="256032" cy="256032"/>
          </a:xfrm>
          <a:prstGeom prst="ellipse">
            <a:avLst/>
          </a:prstGeom>
          <a:solidFill>
            <a:srgbClr val="1991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943600" y="2628900"/>
            <a:ext cx="256032" cy="256032"/>
          </a:xfrm>
          <a:prstGeom prst="ellipse">
            <a:avLst/>
          </a:prstGeom>
          <a:solidFill>
            <a:srgbClr val="1991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943600" y="3337560"/>
            <a:ext cx="256032" cy="256032"/>
          </a:xfrm>
          <a:prstGeom prst="ellipse">
            <a:avLst/>
          </a:prstGeom>
          <a:solidFill>
            <a:srgbClr val="1991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943600" y="4046220"/>
            <a:ext cx="256032" cy="256032"/>
          </a:xfrm>
          <a:prstGeom prst="ellipse">
            <a:avLst/>
          </a:prstGeom>
          <a:solidFill>
            <a:srgbClr val="1991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943600" y="4754880"/>
            <a:ext cx="256032" cy="256032"/>
          </a:xfrm>
          <a:prstGeom prst="ellipse">
            <a:avLst/>
          </a:prstGeom>
          <a:solidFill>
            <a:srgbClr val="1991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229600" y="1920240"/>
            <a:ext cx="256032" cy="256032"/>
          </a:xfrm>
          <a:prstGeom prst="ellipse">
            <a:avLst/>
          </a:prstGeom>
          <a:solidFill>
            <a:srgbClr val="EEB1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229600" y="2865120"/>
            <a:ext cx="256032" cy="256032"/>
          </a:xfrm>
          <a:prstGeom prst="ellipse">
            <a:avLst/>
          </a:prstGeom>
          <a:solidFill>
            <a:srgbClr val="EEB1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229600" y="3810000"/>
            <a:ext cx="256032" cy="256032"/>
          </a:xfrm>
          <a:prstGeom prst="ellipse">
            <a:avLst/>
          </a:prstGeom>
          <a:solidFill>
            <a:srgbClr val="EEB1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229600" y="4754880"/>
            <a:ext cx="256032" cy="256032"/>
          </a:xfrm>
          <a:prstGeom prst="ellipse">
            <a:avLst/>
          </a:prstGeom>
          <a:solidFill>
            <a:srgbClr val="EEB1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241280" y="1920240"/>
            <a:ext cx="256032" cy="256032"/>
          </a:xfrm>
          <a:prstGeom prst="ellipse">
            <a:avLst/>
          </a:prstGeom>
          <a:solidFill>
            <a:srgbClr val="3070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241280" y="4754880"/>
            <a:ext cx="256032" cy="256032"/>
          </a:xfrm>
          <a:prstGeom prst="ellipse">
            <a:avLst/>
          </a:prstGeom>
          <a:solidFill>
            <a:srgbClr val="3070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05840" y="50749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F1D3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46120" y="50749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F1D34"/>
                </a:solidFill>
                <a:latin typeface="Aptos"/>
              </a:defRPr>
            </a:pPr>
            <a:r>
              <a:t>Hidden layer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32120" y="50749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F1D34"/>
                </a:solidFill>
                <a:latin typeface="Aptos"/>
              </a:defRPr>
            </a:pPr>
            <a:r>
              <a:t>Hidden layer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18120" y="50749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F1D34"/>
                </a:solidFill>
                <a:latin typeface="Aptos"/>
              </a:defRPr>
            </a:pPr>
            <a:r>
              <a:t>Hidden layer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29800" y="50749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F1D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F1D34"/>
                </a:solidFill>
                <a:latin typeface="Aptos"/>
              </a:defRPr>
            </a:pPr>
            <a:r>
              <a:t>Training loop: forward pass → calculate loss → backpropagate gradients → update weights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Deep learning architectures and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Different network designs suit different kinds of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73352"/>
            <a:ext cx="1417320" cy="347472"/>
          </a:xfrm>
          <a:prstGeom prst="round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691640"/>
            <a:ext cx="13075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002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Images and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600200"/>
            <a:ext cx="6309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Object and product recognition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58568"/>
            <a:ext cx="10561320" cy="13716"/>
          </a:xfrm>
          <a:prstGeom prst="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724912"/>
            <a:ext cx="1417320" cy="347472"/>
          </a:xfrm>
          <a:prstGeom prst="round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743200"/>
            <a:ext cx="13075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RNN / 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517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Sequential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651760"/>
            <a:ext cx="6309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Time-series and sequence modelling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10128"/>
            <a:ext cx="10561320" cy="13716"/>
          </a:xfrm>
          <a:prstGeom prst="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776472"/>
            <a:ext cx="1417320" cy="347472"/>
          </a:xfrm>
          <a:prstGeom prst="round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" y="3794759"/>
            <a:ext cx="13075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0332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Text, code, multimodal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703320"/>
            <a:ext cx="6309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LLMs, translation, assistants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561320" cy="13716"/>
          </a:xfrm>
          <a:prstGeom prst="rect">
            <a:avLst/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828031"/>
            <a:ext cx="1417320" cy="347472"/>
          </a:xfrm>
          <a:prstGeom prst="round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4846319"/>
            <a:ext cx="13075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F1D34"/>
                </a:solidFill>
                <a:latin typeface="Aptos"/>
              </a:defRPr>
            </a:pPr>
            <a:r>
              <a:t>GANs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754879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Synthetic data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754879"/>
            <a:ext cx="6309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Image synthesis and enhancement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23560"/>
            <a:ext cx="10561320" cy="594360"/>
          </a:xfrm>
          <a:prstGeom prst="roundRect">
            <a:avLst/>
          </a:prstGeom>
          <a:solidFill>
            <a:srgbClr val="E2EDFB"/>
          </a:solidFill>
          <a:ln>
            <a:solidFill>
              <a:srgbClr val="E2E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733288"/>
            <a:ext cx="64008" cy="37490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788152"/>
            <a:ext cx="10195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D34"/>
                </a:solidFill>
                <a:latin typeface="Aptos"/>
              </a:defRPr>
            </a:pPr>
            <a:r>
              <a:t>Generative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6245352"/>
            <a:ext cx="10195560" cy="-1554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Creates new text, code, images, audio or other content from learned patterns.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Where ML fits in banking and MFI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Use models for predictions. Keep business decisions governed by explicit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09928"/>
            <a:ext cx="64008" cy="92354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Credit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920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Logistic Regression, XGBoost</a:t>
            </a:r>
          </a:p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Estimate default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09928"/>
            <a:ext cx="64008" cy="92354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76479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221992"/>
            <a:ext cx="48920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Isolation Forest, Random Forest</a:t>
            </a:r>
          </a:p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Flag unusual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27248"/>
            <a:ext cx="64008" cy="923544"/>
          </a:xfrm>
          <a:prstGeom prst="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8211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39312"/>
            <a:ext cx="48920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K-Means</a:t>
            </a:r>
          </a:p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Discover customer groups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175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127248"/>
            <a:ext cx="64008" cy="923544"/>
          </a:xfrm>
          <a:prstGeom prst="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18211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639312"/>
            <a:ext cx="48920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Regression, LSTM</a:t>
            </a:r>
          </a:p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Estimate demand and cash needs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44568"/>
            <a:ext cx="64008" cy="92354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599431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Document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56631"/>
            <a:ext cx="48920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CNNs, Transformers</a:t>
            </a:r>
          </a:p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Extract and classify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348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544568"/>
            <a:ext cx="64008" cy="923544"/>
          </a:xfrm>
          <a:prstGeom prst="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599431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Customer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5056631"/>
            <a:ext cx="48920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LLMs</a:t>
            </a:r>
          </a:p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Answer questions and assist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Production pattern: Python ML +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Separate model inference from core banking rules and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1554480"/>
            <a:ext cx="9144000" cy="621792"/>
          </a:xfrm>
          <a:prstGeom prst="roundRect">
            <a:avLst/>
          </a:prstGeom>
          <a:solidFill>
            <a:srgbClr val="F1F5FA"/>
          </a:solidFill>
          <a:ln w="19050"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61848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36776"/>
            <a:ext cx="5760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Loan application and orchestration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194560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08760" y="2395728"/>
            <a:ext cx="9144000" cy="621792"/>
          </a:xfrm>
          <a:prstGeom prst="roundRect">
            <a:avLst/>
          </a:prstGeom>
          <a:solidFill>
            <a:srgbClr val="F1F5FA"/>
          </a:solidFill>
          <a:ln w="19050"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45973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Feature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78024"/>
            <a:ext cx="5760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Customer, account and repayment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035808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508760" y="3236976"/>
            <a:ext cx="9144000" cy="621792"/>
          </a:xfrm>
          <a:prstGeom prst="roundRect">
            <a:avLst/>
          </a:prstGeom>
          <a:solidFill>
            <a:srgbClr val="F1F5FA"/>
          </a:solidFill>
          <a:ln w="19050"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30098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Python model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19272"/>
            <a:ext cx="5760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FastAPI serves the trained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877056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508760" y="4078224"/>
            <a:ext cx="9144000" cy="621792"/>
          </a:xfrm>
          <a:prstGeom prst="roundRect">
            <a:avLst/>
          </a:prstGeom>
          <a:solidFill>
            <a:srgbClr val="F1F5FA"/>
          </a:solidFill>
          <a:ln w="19050"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4142232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Risk and policy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5760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Combines prediction with eligibility 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718304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08760" y="4919472"/>
            <a:ext cx="9144000" cy="621792"/>
          </a:xfrm>
          <a:prstGeom prst="roundRect">
            <a:avLst/>
          </a:prstGeom>
          <a:solidFill>
            <a:srgbClr val="F1F5FA"/>
          </a:solidFill>
          <a:ln w="19050"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98348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D34"/>
                </a:solidFill>
                <a:latin typeface="Aptos"/>
              </a:defRPr>
            </a:pPr>
            <a:r>
              <a:t>Decision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01768"/>
            <a:ext cx="5760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Approve, refer for review or decline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C24B4B"/>
                </a:solidFill>
                <a:latin typeface="Aptos"/>
              </a:defRPr>
            </a:pPr>
            <a:r>
              <a:t>Governance: version models, monitor drift, test fairness, retain audit trails and support human review.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A practical 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t>Build capability in stages, then connect it to a real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27632"/>
            <a:ext cx="502920" cy="347472"/>
          </a:xfrm>
          <a:prstGeom prst="round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45920"/>
            <a:ext cx="3931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Python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18488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DDAEB"/>
                </a:solidFill>
                <a:latin typeface="Aptos"/>
              </a:defRPr>
            </a:pPr>
            <a:r>
              <a:t>NumPy • Pandas •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79"/>
            <a:ext cx="502920" cy="347472"/>
          </a:xfrm>
          <a:prstGeom prst="roundRect">
            <a:avLst/>
          </a:prstGeom>
          <a:solidFill>
            <a:srgbClr val="2AB7CA"/>
          </a:solidFill>
          <a:ln>
            <a:solidFill>
              <a:srgbClr val="2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87168"/>
            <a:ext cx="3931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4144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Core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59736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DDAEB"/>
                </a:solidFill>
                <a:latin typeface="Aptos"/>
              </a:defRPr>
            </a:pPr>
            <a:r>
              <a:t>Regression • trees • clustering •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10127"/>
            <a:ext cx="502920" cy="347472"/>
          </a:xfrm>
          <a:prstGeom prst="roundRect">
            <a:avLst/>
          </a:prstGeom>
          <a:solidFill>
            <a:srgbClr val="199182"/>
          </a:solidFill>
          <a:ln>
            <a:solidFill>
              <a:srgbClr val="19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8415"/>
            <a:ext cx="3931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82696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00984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DDAEB"/>
                </a:solidFill>
                <a:latin typeface="Aptos"/>
              </a:defRPr>
            </a:pPr>
            <a:r>
              <a:t>Neural networks • PyTorch • Transformers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51376"/>
            <a:ext cx="502920" cy="347472"/>
          </a:xfrm>
          <a:prstGeom prst="roundRect">
            <a:avLst/>
          </a:prstGeom>
          <a:solidFill>
            <a:srgbClr val="EEB143"/>
          </a:solidFill>
          <a:ln>
            <a:solidFill>
              <a:srgbClr val="EE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169663"/>
            <a:ext cx="3931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23944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Modern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42231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DDAEB"/>
                </a:solidFill>
                <a:latin typeface="Aptos"/>
              </a:defRPr>
            </a:pPr>
            <a:r>
              <a:t>Embeddings • RAG • LLMs •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92624"/>
            <a:ext cx="502920" cy="347472"/>
          </a:xfrm>
          <a:prstGeom prst="round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010912"/>
            <a:ext cx="3931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965192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Production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83479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DDAEB"/>
                </a:solidFill>
                <a:latin typeface="Aptos"/>
              </a:defRPr>
            </a:pPr>
            <a:r>
              <a:t>FastAPI • Docker • MLflow •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2AB7CA"/>
                </a:solidFill>
                <a:latin typeface="Aptos"/>
              </a:defRPr>
            </a:pPr>
            <a:r>
              <a:t>Suggested project: train a credit-risk model, evaluate it, expose it through FastAPI and call it from Spring Boot.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AB9CD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AB9CD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D34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The essential ideas to retain.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468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070C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600200"/>
            <a:ext cx="7680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The broad field of intelligent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468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99182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423160"/>
            <a:ext cx="7680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Learns patterns from data to make predictions.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468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AB7CA"/>
                </a:solidFill>
                <a:latin typeface="Aptos"/>
              </a:defRPr>
            </a:pPr>
            <a: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246120"/>
            <a:ext cx="7680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Uses multi-layer neural networks to learn complex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468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EB143"/>
                </a:solidFill>
                <a:latin typeface="Aptos"/>
              </a:defRPr>
            </a:pPr>
            <a: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069080"/>
            <a:ext cx="7680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Creates new content using learned 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2468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070C7"/>
                </a:solidFill>
                <a:latin typeface="Aptos"/>
              </a:defRPr>
            </a:pPr>
            <a:r>
              <a:t>Production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892040"/>
            <a:ext cx="7680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Requires evaluation, monitoring, governance and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15000"/>
            <a:ext cx="10287000" cy="548640"/>
          </a:xfrm>
          <a:prstGeom prst="roundRect">
            <a:avLst/>
          </a:prstGeom>
          <a:solidFill>
            <a:srgbClr val="E2EDFB"/>
          </a:solidFill>
          <a:ln>
            <a:solidFill>
              <a:srgbClr val="E2E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824728"/>
            <a:ext cx="64008" cy="329184"/>
          </a:xfrm>
          <a:prstGeom prst="rect">
            <a:avLst/>
          </a:prstGeom>
          <a:solidFill>
            <a:srgbClr val="3070C7"/>
          </a:solidFill>
          <a:ln>
            <a:solidFill>
              <a:srgbClr val="307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879592"/>
            <a:ext cx="9921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D34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6336792"/>
            <a:ext cx="9921240" cy="-201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F2937"/>
                </a:solidFill>
                <a:latin typeface="Aptos"/>
              </a:defRPr>
            </a:pPr>
            <a:r>
              <a:t>Build a small credit-scoring model and integrate it with a Spring Boot 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19CAB"/>
                </a:solidFill>
                <a:latin typeface="Aptos"/>
              </a:defRPr>
            </a:pPr>
            <a:r>
              <a:t>MACHINE LEARNING • A PRACTICAL 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19CA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A Practical Introduction</dc:title>
  <dc:subject>Machine learning, deep learning, AI and Python examples</dc:subject>
  <dc:creator>OpenAI</dc:creator>
  <cp:keywords>Machine Learning, Deep Learning, AI, Python, Banking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